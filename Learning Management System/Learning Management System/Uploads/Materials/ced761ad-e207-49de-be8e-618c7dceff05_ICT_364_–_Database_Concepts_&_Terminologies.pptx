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6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-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227" y="4854247"/>
            <a:ext cx="10587547" cy="1425247"/>
          </a:xfrm>
        </p:spPr>
        <p:txBody>
          <a:bodyPr>
            <a:normAutofit/>
          </a:bodyPr>
          <a:lstStyle>
            <a:lvl1pPr marL="0" indent="0" algn="l">
              <a:buNone/>
              <a:defRPr sz="3733" b="0" i="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228" y="2003753"/>
            <a:ext cx="10587547" cy="244328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4800">
                <a:solidFill>
                  <a:srgbClr val="FF702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0A5-94E5-4AD6-AB0C-3C5FF969B383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7BBA-2F6D-40B7-80D7-B51FB768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77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227" y="-1"/>
            <a:ext cx="10587547" cy="1596540"/>
          </a:xfrm>
        </p:spPr>
        <p:txBody>
          <a:bodyPr>
            <a:normAutofit/>
          </a:bodyPr>
          <a:lstStyle>
            <a:lvl1pPr algn="l">
              <a:defRPr sz="4800" baseline="0">
                <a:solidFill>
                  <a:srgbClr val="FF702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227" y="1800147"/>
            <a:ext cx="10587547" cy="4479347"/>
          </a:xfrm>
        </p:spPr>
        <p:txBody>
          <a:bodyPr/>
          <a:lstStyle>
            <a:lvl1pPr algn="l">
              <a:defRPr sz="37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0A5-94E5-4AD6-AB0C-3C5FF969B383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7BBA-2F6D-40B7-80D7-B51FB768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490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78507"/>
            <a:ext cx="8551480" cy="1221639"/>
          </a:xfrm>
          <a:noFill/>
        </p:spPr>
        <p:txBody>
          <a:bodyPr>
            <a:normAutofit/>
          </a:bodyPr>
          <a:lstStyle>
            <a:lvl1pPr algn="l">
              <a:defRPr sz="4800">
                <a:solidFill>
                  <a:srgbClr val="FF702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800147"/>
            <a:ext cx="8551480" cy="4479347"/>
          </a:xfrm>
        </p:spPr>
        <p:txBody>
          <a:bodyPr/>
          <a:lstStyle>
            <a:lvl1pPr algn="l">
              <a:defRPr sz="3733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0A5-94E5-4AD6-AB0C-3C5FF969B383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7BBA-2F6D-40B7-80D7-B51FB768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38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0A5-94E5-4AD6-AB0C-3C5FF969B383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7BBA-2F6D-40B7-80D7-B51FB768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4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0A5-94E5-4AD6-AB0C-3C5FF969B383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7BBA-2F6D-40B7-80D7-B51FB768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27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-1"/>
            <a:ext cx="10994760" cy="1596541"/>
          </a:xfrm>
        </p:spPr>
        <p:txBody>
          <a:bodyPr>
            <a:normAutofit/>
          </a:bodyPr>
          <a:lstStyle>
            <a:lvl1pPr algn="l">
              <a:defRPr sz="4800" baseline="0">
                <a:solidFill>
                  <a:srgbClr val="FF702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5836" y="2410967"/>
            <a:ext cx="5386917" cy="639763"/>
          </a:xfrm>
        </p:spPr>
        <p:txBody>
          <a:bodyPr anchor="b"/>
          <a:lstStyle>
            <a:lvl1pPr marL="0" indent="0" algn="ctr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5836" y="3040828"/>
            <a:ext cx="5386917" cy="3035059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defRPr sz="2667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ctr"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ctr"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1" y="2410967"/>
            <a:ext cx="5389033" cy="639763"/>
          </a:xfrm>
        </p:spPr>
        <p:txBody>
          <a:bodyPr anchor="b"/>
          <a:lstStyle>
            <a:lvl1pPr marL="0" indent="0" algn="ctr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1" y="3040828"/>
            <a:ext cx="5389033" cy="3035059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defRPr sz="2667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ctr"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ctr"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0A5-94E5-4AD6-AB0C-3C5FF969B383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7BBA-2F6D-40B7-80D7-B51FB768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11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0A5-94E5-4AD6-AB0C-3C5FF969B383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7BBA-2F6D-40B7-80D7-B51FB768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027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0A5-94E5-4AD6-AB0C-3C5FF969B383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7BBA-2F6D-40B7-80D7-B51FB768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49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0A5-94E5-4AD6-AB0C-3C5FF969B383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7BBA-2F6D-40B7-80D7-B51FB768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9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0A5-94E5-4AD6-AB0C-3C5FF969B383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7BBA-2F6D-40B7-80D7-B51FB768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9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0A5-94E5-4AD6-AB0C-3C5FF969B383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7BBA-2F6D-40B7-80D7-B51FB768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26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0A5-94E5-4AD6-AB0C-3C5FF969B383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7BBA-2F6D-40B7-80D7-B51FB768BB39}" type="slidenum">
              <a:rPr lang="en-US" smtClean="0"/>
              <a:t>‹#›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219" y="3692525"/>
            <a:ext cx="195156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6185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12800" y="1534433"/>
            <a:ext cx="5669600" cy="3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12800" y="4728367"/>
            <a:ext cx="56696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2018A23-46A5-4571-85D0-388F17D0D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54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2018A23-46A5-4571-85D0-388F17D0D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18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86367" y="390167"/>
            <a:ext cx="1081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86367" y="1536633"/>
            <a:ext cx="10819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2018A23-46A5-4571-85D0-388F17D0D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73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686367" y="390167"/>
            <a:ext cx="1081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2018A23-46A5-4571-85D0-388F17D0D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15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86367" y="400933"/>
            <a:ext cx="108192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2018A23-46A5-4571-85D0-388F17D0D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0767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2018A23-46A5-4571-85D0-388F17D0D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84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2018A23-46A5-4571-85D0-388F17D0D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826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2018A23-46A5-4571-85D0-388F17D0D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706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2018A23-46A5-4571-85D0-388F17D0D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414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2018A23-46A5-4571-85D0-388F17D0D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63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2018A23-46A5-4571-85D0-388F17D0D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101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772A-7293-875C-6A44-67607F20E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6F6E3-B930-8F8F-4613-F7D1EF811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202EE-7964-7440-1D0F-48A61B3D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3E221-7C34-4773-9C6B-DC83DC4D254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85C3E-454B-8223-D3A7-404CFC492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67D99-340E-0957-3AB9-92AC34F8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18A23-46A5-4571-85D0-388F17D0D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7016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311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8C0A5-94E5-4AD6-AB0C-3C5FF969B383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D7BBA-2F6D-40B7-80D7-B51FB768BB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/>
        </p:nvSpPr>
        <p:spPr>
          <a:xfrm>
            <a:off x="-12200" y="6951663"/>
            <a:ext cx="11186167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867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339161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86367" y="390167"/>
            <a:ext cx="10819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86367" y="1536633"/>
            <a:ext cx="10819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E2018A23-46A5-4571-85D0-388F17D0D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04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72710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3380A2-FE31-BC58-28B8-156167160C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2 – Introduction to Database Terminologies &amp; Models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E17E7-8F83-B6FB-6FED-65C93B79DB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ICT 364 – </a:t>
            </a:r>
            <a:r>
              <a:rPr lang="fr-FR" dirty="0" err="1"/>
              <a:t>Database</a:t>
            </a:r>
            <a:r>
              <a:rPr lang="fr-FR" dirty="0"/>
              <a:t> Concepts &amp; Terminologies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184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D3DE-1394-6D00-16AC-0489543A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2CA12-B2CB-1BA9-D72F-77926BCA0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 database-related terms (tables, records, fields, schema).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Differentiate between data, information, knowledge.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types of databases (hierarchical, network, relational, OODBMS).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Explain logical vs physical data models.</a:t>
            </a:r>
          </a:p>
        </p:txBody>
      </p:sp>
    </p:spTree>
    <p:extLst>
      <p:ext uri="{BB962C8B-B14F-4D97-AF65-F5344CB8AC3E}">
        <p14:creationId xmlns:p14="http://schemas.microsoft.com/office/powerpoint/2010/main" val="3058039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577A3-03B4-5ABA-39A1-B77B7383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vs Information vs Knowledge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655EAED-F104-276E-1C8B-7AAAE45640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2227" y="1777665"/>
            <a:ext cx="1058754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Raw facts (e.g., “23, UEW, 2025”).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Processed/organized data (e.g., “Student ID 23 belongs to UEW class of 2025”).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Interpreted info for decision-making (e.g., “Enroll Student 23 in graduation program”).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diagram of information and data&#10;&#10;AI-generated content may be incorrect.">
            <a:extLst>
              <a:ext uri="{FF2B5EF4-FFF2-40B4-BE49-F238E27FC236}">
                <a16:creationId xmlns:a16="http://schemas.microsoft.com/office/drawing/2014/main" id="{70CB946D-4F5C-26F9-2EE3-ABFB9AA80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626" y="4822161"/>
            <a:ext cx="2608082" cy="203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37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4324-D49A-85C8-37E1-B9B14ADF7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Database Terminologies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5044B6-6F23-45E4-8E76-1F52905BB1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2227" y="2608660"/>
            <a:ext cx="1051563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(relation) → collection of rows &amp; columns.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 (Row/Tuple)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one entry.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Field (Column/Attribute)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category of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overall structure of a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a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diagram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0087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66BA6-34C0-3E0D-CC1B-A0C1D56C9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Databases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8ED3CE-464D-E034-72B5-4F0D9465BC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2227" y="2054662"/>
            <a:ext cx="1066227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Hierarchical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parent-child tree 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multiple relationships with graph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Relational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tables linked with keys (most common).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Object-oriented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stores objects with attributes/methods.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icons/mini-diagrams to visualize.</a:t>
            </a:r>
          </a:p>
        </p:txBody>
      </p:sp>
    </p:spTree>
    <p:extLst>
      <p:ext uri="{BB962C8B-B14F-4D97-AF65-F5344CB8AC3E}">
        <p14:creationId xmlns:p14="http://schemas.microsoft.com/office/powerpoint/2010/main" val="4290063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66D36-473F-CCF4-0854-11C33645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FE202B-8DBD-D82C-4FEF-0A609FB772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2227" y="1692873"/>
            <a:ext cx="1058754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Model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abstract design (entities, attributes, relationships).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Physical Model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implementation details (tables, columns, indexes).</a:t>
            </a:r>
          </a:p>
        </p:txBody>
      </p:sp>
      <p:pic>
        <p:nvPicPr>
          <p:cNvPr id="6" name="Picture 5" descr="A diagram of a pharmacy">
            <a:extLst>
              <a:ext uri="{FF2B5EF4-FFF2-40B4-BE49-F238E27FC236}">
                <a16:creationId xmlns:a16="http://schemas.microsoft.com/office/drawing/2014/main" id="{3628673A-FC9B-1D4D-B3F3-D695B8338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244" y="3546286"/>
            <a:ext cx="3798529" cy="313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117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1E6CC-AC23-5AA2-3EB5-D7EF54DE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Databases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7CE061-1976-8005-17A5-768753A45F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2228" y="2146997"/>
            <a:ext cx="1047249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University student information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Banking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media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records.</a:t>
            </a:r>
          </a:p>
        </p:txBody>
      </p:sp>
    </p:spTree>
    <p:extLst>
      <p:ext uri="{BB962C8B-B14F-4D97-AF65-F5344CB8AC3E}">
        <p14:creationId xmlns:p14="http://schemas.microsoft.com/office/powerpoint/2010/main" val="952938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6B6D5-D82F-6208-A540-504D848F6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 Activities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74724D-421A-B704-3889-182D67D4C1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2228" y="1931552"/>
            <a:ext cx="10239584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Forum: </a:t>
            </a:r>
            <a:r>
              <a:rPr kumimoji="0" lang="en-US" altLang="en-US" sz="4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vs Information – real-world example.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Quiz: 3 MCQs (terminology &amp; models).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 Assignment: Short report on types of databases.</a:t>
            </a:r>
          </a:p>
        </p:txBody>
      </p:sp>
    </p:spTree>
    <p:extLst>
      <p:ext uri="{BB962C8B-B14F-4D97-AF65-F5344CB8AC3E}">
        <p14:creationId xmlns:p14="http://schemas.microsoft.com/office/powerpoint/2010/main" val="1092283809"/>
      </p:ext>
    </p:extLst>
  </p:cSld>
  <p:clrMapOvr>
    <a:masterClrMapping/>
  </p:clrMapOvr>
</p:sld>
</file>

<file path=ppt/theme/theme1.xml><?xml version="1.0" encoding="utf-8"?>
<a:theme xmlns:a="http://schemas.openxmlformats.org/drawingml/2006/main" name="162467-business-template-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ta Migration Process Infographics by Slidesgo">
  <a:themeElements>
    <a:clrScheme name="Simple Light">
      <a:dk1>
        <a:srgbClr val="000000"/>
      </a:dk1>
      <a:lt1>
        <a:srgbClr val="FFFFFF"/>
      </a:lt1>
      <a:dk2>
        <a:srgbClr val="DDDDDD"/>
      </a:dk2>
      <a:lt2>
        <a:srgbClr val="293E8D"/>
      </a:lt2>
      <a:accent1>
        <a:srgbClr val="4335AF"/>
      </a:accent1>
      <a:accent2>
        <a:srgbClr val="9659F4"/>
      </a:accent2>
      <a:accent3>
        <a:srgbClr val="5CCFFB"/>
      </a:accent3>
      <a:accent4>
        <a:srgbClr val="A0FDF1"/>
      </a:accent4>
      <a:accent5>
        <a:srgbClr val="FCCAF5"/>
      </a:accent5>
      <a:accent6>
        <a:srgbClr val="FA72DC"/>
      </a:accent6>
      <a:hlink>
        <a:srgbClr val="2134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📑 Week 1 Slide Deck – Introduction to Databases &amp; Orientation</Template>
  <TotalTime>14</TotalTime>
  <Words>286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Fira Sans Extra Condensed SemiBold</vt:lpstr>
      <vt:lpstr>Proxima Nova</vt:lpstr>
      <vt:lpstr>Proxima Nova Semibold</vt:lpstr>
      <vt:lpstr>Roboto</vt:lpstr>
      <vt:lpstr>162467-business-template-16x9</vt:lpstr>
      <vt:lpstr>Data Migration Process Infographics by Slidesgo</vt:lpstr>
      <vt:lpstr>Slidesgo Final Pages</vt:lpstr>
      <vt:lpstr>ICT 364 – Database Concepts &amp; Terminologies</vt:lpstr>
      <vt:lpstr>Weekly Objectives</vt:lpstr>
      <vt:lpstr>Data vs Information vs Knowledge</vt:lpstr>
      <vt:lpstr>Basic Database Terminologies</vt:lpstr>
      <vt:lpstr>Types of Databases</vt:lpstr>
      <vt:lpstr>Data Models</vt:lpstr>
      <vt:lpstr>Examples of Databases</vt:lpstr>
      <vt:lpstr>Week 2 Activities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aaa</dc:creator>
  <cp:lastModifiedBy>ben aaa</cp:lastModifiedBy>
  <cp:revision>1</cp:revision>
  <dcterms:created xsi:type="dcterms:W3CDTF">2025-09-05T03:32:39Z</dcterms:created>
  <dcterms:modified xsi:type="dcterms:W3CDTF">2025-09-05T03:47:22Z</dcterms:modified>
</cp:coreProperties>
</file>